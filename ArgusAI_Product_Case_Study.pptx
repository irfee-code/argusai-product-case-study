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ln w="38100" cap="flat">
              <a:solidFill>
                <a:srgbClr val="D9480F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D9480F"/>
              </a:solidFill>
              <a:ln w="9525" cap="flat">
                <a:solidFill>
                  <a:srgbClr val="D9480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0.6</c:v>
                </c:pt>
                <c:pt idx="4">
                  <c:v>1.6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841-4F2B-9B89-4B4F132A22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451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 built it: incident investigation felt like a product problem, not only an engineering one. The alert says something is wrong; nobody tells you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alert says THAT something is wrong, not WHY. I deliberately avoid quoting MTTR statistics here; if you add one, cite a named report and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these personas come from my own domain understanding. Next step: 5-8 interviews with on-call engineers.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emotion curve is qualitative and based on my understanding of the workflow, not measured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sharp sentence. Then the HMW question that drives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Observability tools collect. Alerting tools notify. Nobody explains. That empty layer is the product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ArgusAI does the first ten minutes of investigation automatically. "Ten minutes" is a framing, not a measured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1-4 need no human effort; step 5 is where human judgment enters. This is the intended experience,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 gets engineers to a hypothesis. Trust makes them willing to act on it. Swap in a real dashboard screenshot with numbered callouts if you have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the model only reasons over retrieved evidence. That is a deliberate design choice to reduce unsupported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diagram, no code. The point is credibility: it is a real working pipeline on standard open tooling. When the alert arrives, FastAPI queries Prometheus and Loki for evidence before calling Gemini.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with a real incident you triggered in the demo (for example by injecting a fault into the Spring Boot app) and use real screenshots. That avoids any "invented" concern.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2 decisions you are most proud of and go deeper. Rewrite the "Why" column in your own words; interviewers will probe your real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baseline data before setting targets. "Correct" would be measured with thumbs up/down plus post-incident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own qualitative placement of each risk, not measured. The top-right risk, a wrong but confident RCA, is why evidence and human review are core to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Trust-building work sits in Now on purpose. Without it, more features just mean more unverified AI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shift: from searching to deciding. Recap what the project demonstrates: problem discovery, user thinking, product decisions, metrics, technical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73152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00100"/>
            <a:ext cx="320040" cy="3200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" y="900684"/>
            <a:ext cx="118872" cy="118872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7001" y="1266444"/>
            <a:ext cx="732535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 </a:t>
            </a:r>
          </a:p>
          <a:p>
            <a:pPr marL="0" indent="0">
              <a:buNone/>
            </a:pP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9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alert to root cause, in one screen.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incident investigation for software teams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943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  ·  [Your name]  ·  [Month 2026]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0" y="822960"/>
            <a:ext cx="4663440" cy="5029200"/>
          </a:xfrm>
          <a:prstGeom prst="roundRect">
            <a:avLst>
              <a:gd name="adj" fmla="val 3922"/>
            </a:avLst>
          </a:prstGeom>
          <a:solidFill>
            <a:srgbClr val="12315A"/>
          </a:solidFill>
          <a:ln w="12700">
            <a:solidFill>
              <a:srgbClr val="1231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6948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FEED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69480" y="14630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523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· Critical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latency on checkout-service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14:02 · Alertmanager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81160" y="2697480"/>
            <a:ext cx="0" cy="411480"/>
          </a:xfrm>
          <a:prstGeom prst="line">
            <a:avLst/>
          </a:prstGeom>
          <a:noFill/>
          <a:ln w="22225">
            <a:solidFill>
              <a:srgbClr val="9FE3D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69480" y="315468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236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ROOT-CAUSE ANALYSIS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3611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 cause: database connection pool exhaustion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logs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per analysis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5989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mockup. Replace with a real dashboard screenshot.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is the start of the investigation, not the answer.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· Product Case Study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latency on checkout-service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06240" y="182880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89120" y="18288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dashboards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1975104"/>
            <a:ext cx="274320" cy="274320"/>
          </a:xfrm>
          <a:prstGeom prst="ellipse">
            <a:avLst/>
          </a:prstGeom>
          <a:solidFill>
            <a:srgbClr val="C7CDD6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 flipV="1">
            <a:off x="3017520" y="2112264"/>
            <a:ext cx="1143000" cy="1316736"/>
          </a:xfrm>
          <a:prstGeom prst="line">
            <a:avLst/>
          </a:prstGeom>
          <a:noFill/>
          <a:ln w="22225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206240" y="260604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89120" y="26060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search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0" y="2752344"/>
            <a:ext cx="274320" cy="274320"/>
          </a:xfrm>
          <a:prstGeom prst="ellipse">
            <a:avLst/>
          </a:prstGeom>
          <a:solidFill>
            <a:srgbClr val="C7CDD6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 flipV="1">
            <a:off x="3017520" y="2889504"/>
            <a:ext cx="1143000" cy="539496"/>
          </a:xfrm>
          <a:prstGeom prst="line">
            <a:avLst/>
          </a:prstGeom>
          <a:noFill/>
          <a:ln w="22225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206240" y="338328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89120" y="33832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history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0" y="3529584"/>
            <a:ext cx="274320" cy="274320"/>
          </a:xfrm>
          <a:prstGeom prst="ellipse">
            <a:avLst/>
          </a:prstGeom>
          <a:solidFill>
            <a:srgbClr val="C7CDD6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017520" y="3429000"/>
            <a:ext cx="1143000" cy="237744"/>
          </a:xfrm>
          <a:prstGeom prst="line">
            <a:avLst/>
          </a:prstGeom>
          <a:noFill/>
          <a:ln w="22225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4206240" y="416052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41605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threads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0800" y="4306824"/>
            <a:ext cx="274320" cy="274320"/>
          </a:xfrm>
          <a:prstGeom prst="ellipse">
            <a:avLst/>
          </a:prstGeom>
          <a:solidFill>
            <a:srgbClr val="C7CDD6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0" y="4306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017520" y="3429000"/>
            <a:ext cx="1143000" cy="1014984"/>
          </a:xfrm>
          <a:prstGeom prst="line">
            <a:avLst/>
          </a:prstGeom>
          <a:noFill/>
          <a:ln w="22225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4206240" y="493776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389120" y="49377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400800" y="5084064"/>
            <a:ext cx="274320" cy="274320"/>
          </a:xfrm>
          <a:prstGeom prst="ellipse">
            <a:avLst/>
          </a:prstGeom>
          <a:solidFill>
            <a:srgbClr val="C7CDD6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0" y="5084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017520" y="3429000"/>
            <a:ext cx="1143000" cy="1792224"/>
          </a:xfrm>
          <a:prstGeom prst="line">
            <a:avLst/>
          </a:prstGeom>
          <a:noFill/>
          <a:ln w="22225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7589520" y="182880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589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0" y="18105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scattered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8229600" y="2194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metrics, logs and dashboards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7589520" y="324612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589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8229600" y="3227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depends</a:t>
            </a:r>
            <a:endParaRPr lang="en-US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8229600" y="3611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whoever knows the system best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7589520" y="46634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58952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8229600" y="46451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lost finding the signal</a:t>
            </a:r>
            <a:endParaRPr lang="en-US" sz="1700" dirty="0"/>
          </a:p>
        </p:txBody>
      </p:sp>
      <p:sp>
        <p:nvSpPr>
          <p:cNvPr id="46" name="Text 43"/>
          <p:cNvSpPr txBox="1"/>
          <p:nvPr/>
        </p:nvSpPr>
        <p:spPr>
          <a:xfrm>
            <a:off x="8229600" y="5029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fixing the cause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USERS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under pressure at 2 a.m. is the user; the team lead is the buyer.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· Product Case Study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194560"/>
            <a:ext cx="731520" cy="73152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78308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engineer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3931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4206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service fast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4937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5212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service, scattered data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343400" y="187452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2194560"/>
            <a:ext cx="731520" cy="731520"/>
          </a:xfrm>
          <a:prstGeom prst="ellipse">
            <a:avLst/>
          </a:prstGeom>
          <a:solidFill>
            <a:srgbClr val="C7CDD6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6344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557784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66344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 / SRE lead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4663440" y="3931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663440" y="4206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incident impact, fewer escalations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663440" y="4937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663440" y="5212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become the bottleneck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8138160" y="187452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58200" y="2194560"/>
            <a:ext cx="731520" cy="731520"/>
          </a:xfrm>
          <a:prstGeom prst="ellipse">
            <a:avLst/>
          </a:prstGeom>
          <a:solidFill>
            <a:srgbClr val="C7CDD6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45820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937260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45820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/ new engineer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8458200" y="3931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458200" y="4206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confidently to on-call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458200" y="4937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8458200" y="5212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know where to look</a:t>
            </a:r>
            <a:endParaRPr lang="en-US" sz="1500" dirty="0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9318596A-D75F-E3B1-6F64-0F8CBCE374F4}"/>
              </a:ext>
            </a:extLst>
          </p:cNvPr>
          <p:cNvSpPr/>
          <p:nvPr/>
        </p:nvSpPr>
        <p:spPr>
          <a:xfrm>
            <a:off x="548640" y="187452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6" name="Shape 16">
            <a:extLst>
              <a:ext uri="{FF2B5EF4-FFF2-40B4-BE49-F238E27FC236}">
                <a16:creationId xmlns:a16="http://schemas.microsoft.com/office/drawing/2014/main" id="{9BB4FDC0-DA3E-D90D-67C0-C8253AE99E2E}"/>
              </a:ext>
            </a:extLst>
          </p:cNvPr>
          <p:cNvSpPr/>
          <p:nvPr/>
        </p:nvSpPr>
        <p:spPr>
          <a:xfrm>
            <a:off x="868680" y="2194560"/>
            <a:ext cx="731520" cy="731520"/>
          </a:xfrm>
          <a:prstGeom prst="ellipse">
            <a:avLst/>
          </a:prstGeom>
          <a:solidFill>
            <a:srgbClr val="C7CDD6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4EEC071A-5386-4D3B-4C82-66E38799B4D5}"/>
              </a:ext>
            </a:extLst>
          </p:cNvPr>
          <p:cNvSpPr txBox="1"/>
          <p:nvPr/>
        </p:nvSpPr>
        <p:spPr>
          <a:xfrm>
            <a:off x="86868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F086707B-827C-ECB9-BC29-A942534AA9A1}"/>
              </a:ext>
            </a:extLst>
          </p:cNvPr>
          <p:cNvSpPr txBox="1"/>
          <p:nvPr/>
        </p:nvSpPr>
        <p:spPr>
          <a:xfrm>
            <a:off x="178308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7EB0A32F-FE99-450F-A8B8-FCA7DC217CCF}"/>
              </a:ext>
            </a:extLst>
          </p:cNvPr>
          <p:cNvSpPr txBox="1"/>
          <p:nvPr/>
        </p:nvSpPr>
        <p:spPr>
          <a:xfrm>
            <a:off x="86868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Engineer</a:t>
            </a:r>
            <a:endParaRPr lang="en-US" sz="2000" dirty="0"/>
          </a:p>
        </p:txBody>
      </p:sp>
      <p:sp>
        <p:nvSpPr>
          <p:cNvPr id="64" name="Text 20">
            <a:extLst>
              <a:ext uri="{FF2B5EF4-FFF2-40B4-BE49-F238E27FC236}">
                <a16:creationId xmlns:a16="http://schemas.microsoft.com/office/drawing/2014/main" id="{5B76F59D-38B6-2467-5399-19E82A8ADC9E}"/>
              </a:ext>
            </a:extLst>
          </p:cNvPr>
          <p:cNvSpPr txBox="1"/>
          <p:nvPr/>
        </p:nvSpPr>
        <p:spPr>
          <a:xfrm>
            <a:off x="868680" y="3931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</a:t>
            </a:r>
            <a:endParaRPr lang="en-US" sz="1100" dirty="0"/>
          </a:p>
        </p:txBody>
      </p:sp>
      <p:sp>
        <p:nvSpPr>
          <p:cNvPr id="66" name="Text 21">
            <a:extLst>
              <a:ext uri="{FF2B5EF4-FFF2-40B4-BE49-F238E27FC236}">
                <a16:creationId xmlns:a16="http://schemas.microsoft.com/office/drawing/2014/main" id="{B85D4FAC-ECB7-8BC7-E3F4-319B1447E385}"/>
              </a:ext>
            </a:extLst>
          </p:cNvPr>
          <p:cNvSpPr txBox="1"/>
          <p:nvPr/>
        </p:nvSpPr>
        <p:spPr>
          <a:xfrm>
            <a:off x="868680" y="4206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service fast</a:t>
            </a:r>
            <a:endParaRPr lang="en-US" sz="1500" dirty="0"/>
          </a:p>
        </p:txBody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CC9546E6-2312-D490-A56F-E70BB5732837}"/>
              </a:ext>
            </a:extLst>
          </p:cNvPr>
          <p:cNvSpPr txBox="1"/>
          <p:nvPr/>
        </p:nvSpPr>
        <p:spPr>
          <a:xfrm>
            <a:off x="868680" y="4937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100" dirty="0"/>
          </a:p>
        </p:txBody>
      </p:sp>
      <p:sp>
        <p:nvSpPr>
          <p:cNvPr id="70" name="Text 23">
            <a:extLst>
              <a:ext uri="{FF2B5EF4-FFF2-40B4-BE49-F238E27FC236}">
                <a16:creationId xmlns:a16="http://schemas.microsoft.com/office/drawing/2014/main" id="{AB0CE483-466C-E26A-2396-545DFEE3C3E3}"/>
              </a:ext>
            </a:extLst>
          </p:cNvPr>
          <p:cNvSpPr txBox="1"/>
          <p:nvPr/>
        </p:nvSpPr>
        <p:spPr>
          <a:xfrm>
            <a:off x="868680" y="5212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service, scattered data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CURRENT WORKFLOW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investigation is a manual loop of context-switching.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· Product Case Study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73736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737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Alert fires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526280"/>
            <a:ext cx="2103120" cy="1325880"/>
          </a:xfrm>
          <a:prstGeom prst="roundRect">
            <a:avLst>
              <a:gd name="adj" fmla="val 689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4645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91947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Noisy, low context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779776" y="173736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16936" y="1737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Open Grafana / Prometheus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779776" y="4526280"/>
            <a:ext cx="2103120" cy="1325880"/>
          </a:xfrm>
          <a:prstGeom prst="roundRect">
            <a:avLst>
              <a:gd name="adj" fmla="val 689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916936" y="4645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916936" y="491947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metric matters?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010912" y="173736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48072" y="1737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Search logs manually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10912" y="4526280"/>
            <a:ext cx="2103120" cy="1325880"/>
          </a:xfrm>
          <a:prstGeom prst="roundRect">
            <a:avLst>
              <a:gd name="adj" fmla="val 689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148072" y="4645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148072" y="491947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queries and time ranges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242048" y="173736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79208" y="1737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Form hypothesis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242048" y="4526280"/>
            <a:ext cx="2103120" cy="1325880"/>
          </a:xfrm>
          <a:prstGeom prst="roundRect">
            <a:avLst>
              <a:gd name="adj" fmla="val 689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79208" y="4645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379208" y="491947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tribal knowledge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9473184" y="173736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610344" y="1737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Fix and verify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9473184" y="4526280"/>
            <a:ext cx="2103120" cy="1325880"/>
          </a:xfrm>
          <a:prstGeom prst="roundRect">
            <a:avLst>
              <a:gd name="adj" fmla="val 689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610344" y="4645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610344" y="491947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the cause was found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2514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sentiment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0424160" y="2514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10424160" y="4206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</a:t>
            </a:r>
            <a:endParaRPr lang="en-US" sz="110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548640" y="2651760"/>
          <a:ext cx="1106424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· Product Case Study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11064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engineers need to reach a </a:t>
            </a:r>
            <a:r>
              <a:rPr lang="en-US" sz="36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root-cause hypothesis</a:t>
            </a:r>
            <a:r>
              <a:rPr lang="en-US" sz="3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quickly, but the evidence is </a:t>
            </a:r>
            <a:r>
              <a:rPr lang="en-US" sz="36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across tools</a:t>
            </a:r>
            <a:r>
              <a:rPr lang="en-US" sz="3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interpreting it depends on </a:t>
            </a:r>
            <a:r>
              <a:rPr lang="en-US" sz="36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knowledge.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4572000"/>
            <a:ext cx="11064240" cy="1325880"/>
          </a:xfrm>
          <a:prstGeom prst="roundRect">
            <a:avLst>
              <a:gd name="adj" fmla="val 1034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WE…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evidence and a first hypothesis before the engineer even opens a laptop?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signals exist. The synthesis doesn’t.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· Product Case Study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6583680" cy="868680"/>
          </a:xfrm>
          <a:prstGeom prst="roundRect">
            <a:avLst>
              <a:gd name="adj" fmla="val 1052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8928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2402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and logs are gathered and displayed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6583680" cy="868680"/>
          </a:xfrm>
          <a:prstGeom prst="roundRect">
            <a:avLst>
              <a:gd name="adj" fmla="val 1052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9443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2918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threshold is crossed and someone is paged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886200"/>
            <a:ext cx="6583680" cy="868680"/>
          </a:xfrm>
          <a:prstGeom prst="roundRect">
            <a:avLst>
              <a:gd name="adj" fmla="val 10526"/>
            </a:avLst>
          </a:prstGeom>
          <a:solidFill>
            <a:srgbClr val="DDF3F1"/>
          </a:solidFill>
          <a:ln w="15875">
            <a:solidFill>
              <a:srgbClr val="0E9F9A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822960" y="39959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3434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evidence across sources and say why  →  ArgusAI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937760"/>
            <a:ext cx="6583680" cy="868680"/>
          </a:xfrm>
          <a:prstGeom prst="roundRect">
            <a:avLst>
              <a:gd name="adj" fmla="val 1052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50474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5394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judges, acts, verifies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210312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“Recent LLMs can reason over structured evidence, which makes automated first-pass analysis feasible.”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ArgusAI: an AI first-responder for incidents.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· Product Case Study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830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737360" y="178308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20240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42232" y="2194560"/>
            <a:ext cx="310896" cy="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480560" y="178308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1783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tools: metrics, logs, deploys, Slack, runbooks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348472" y="2194560"/>
            <a:ext cx="310896" cy="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686800" y="178308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86968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2880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737360" y="288036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920240" y="2880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42232" y="3291840"/>
            <a:ext cx="310896" cy="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348472" y="3291840"/>
            <a:ext cx="310896" cy="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48640" y="4206240"/>
            <a:ext cx="3520440" cy="1691640"/>
          </a:xfrm>
          <a:prstGeom prst="roundRect">
            <a:avLst>
              <a:gd name="adj" fmla="val 810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4434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9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029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from your existing alerts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343400" y="4206240"/>
            <a:ext cx="3520440" cy="1691640"/>
          </a:xfrm>
          <a:prstGeom prst="roundRect">
            <a:avLst>
              <a:gd name="adj" fmla="val 810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17720" y="4434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9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</a:t>
            </a:r>
            <a:endParaRPr lang="en-US" sz="2600" dirty="0"/>
          </a:p>
        </p:txBody>
      </p:sp>
      <p:sp>
        <p:nvSpPr>
          <p:cNvPr id="30" name="Text 27"/>
          <p:cNvSpPr txBox="1"/>
          <p:nvPr/>
        </p:nvSpPr>
        <p:spPr>
          <a:xfrm>
            <a:off x="4617720" y="5029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logs and context automatically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138160" y="4206240"/>
            <a:ext cx="3520440" cy="1691640"/>
          </a:xfrm>
          <a:prstGeom prst="roundRect">
            <a:avLst>
              <a:gd name="adj" fmla="val 810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412480" y="4434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9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</a:t>
            </a:r>
            <a:endParaRPr lang="en-US" sz="2600" dirty="0"/>
          </a:p>
        </p:txBody>
      </p:sp>
      <p:sp>
        <p:nvSpPr>
          <p:cNvPr id="33" name="Text 30"/>
          <p:cNvSpPr txBox="1"/>
          <p:nvPr/>
        </p:nvSpPr>
        <p:spPr>
          <a:xfrm>
            <a:off x="8412480" y="5029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probable cause, with evidence and next steps</a:t>
            </a:r>
            <a:endParaRPr lang="en-US" sz="1600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ECDB918F-8B06-4A58-F252-AED3B0742C09}"/>
              </a:ext>
            </a:extLst>
          </p:cNvPr>
          <p:cNvSpPr/>
          <p:nvPr/>
        </p:nvSpPr>
        <p:spPr>
          <a:xfrm>
            <a:off x="4480560" y="2834639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01768" y="28575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gathers evidence</a:t>
            </a:r>
            <a:endParaRPr lang="en-US" sz="1400" dirty="0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6293D4C1-5B13-95E1-FBAF-841AE5D28CB3}"/>
              </a:ext>
            </a:extLst>
          </p:cNvPr>
          <p:cNvSpPr/>
          <p:nvPr/>
        </p:nvSpPr>
        <p:spPr>
          <a:xfrm>
            <a:off x="8659368" y="2834639"/>
            <a:ext cx="3136392" cy="822960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869680" y="2880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+ evidence + actions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USER JOURNEY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alert to action in one screen.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· Product Case Study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2880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5661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11155680" cy="1463040"/>
          </a:xfrm>
          <a:prstGeom prst="roundRect">
            <a:avLst>
              <a:gd name="adj" fmla="val 6250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520440"/>
            <a:ext cx="11155680" cy="1463040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65960" y="187452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75688" y="1984248"/>
            <a:ext cx="320040" cy="3200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75688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075688" y="2377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075688" y="2770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767328" y="2514600"/>
            <a:ext cx="146304" cy="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886200" y="187452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995928" y="1984248"/>
            <a:ext cx="320040" cy="3200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995928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995928" y="2377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collected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995928" y="2770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logs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87568" y="2514600"/>
            <a:ext cx="146304" cy="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806440" y="187452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16168" y="1984248"/>
            <a:ext cx="320040" cy="3200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16168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916168" y="2377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generated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916168" y="2770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607808" y="2514600"/>
            <a:ext cx="146304" cy="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7726680" y="187452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36408" y="1984248"/>
            <a:ext cx="320040" cy="3200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836408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836408" y="2377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7836408" y="2770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9646920" y="361188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756648" y="3721608"/>
            <a:ext cx="320040" cy="32004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56648" y="3721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9756648" y="41148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act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9756648" y="4507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9464040" y="3154680"/>
            <a:ext cx="0" cy="438912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42" name="Text 39"/>
          <p:cNvSpPr txBox="1"/>
          <p:nvPr/>
        </p:nvSpPr>
        <p:spPr>
          <a:xfrm>
            <a:off x="694944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notified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96596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1–4: no human effort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1965960" y="5623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the engineer starts from a hypothesis, not a blank screen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exists to build speed and trust.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· Product Case Study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807208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incident creation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081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become incidents with no manual step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033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3995928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3886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270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update the dashboard live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8920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5184648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463040" y="5074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Auto-gathered evidence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463040" y="5458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and logs pulled for you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63640" y="178308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9224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6263640" y="2514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92240" y="2807208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9224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178040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shown with the RCA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7178040" y="3081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can verify, not just believe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263640" y="37033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92240" y="3995928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922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178040" y="3886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7178040" y="4270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analysis states how sure it is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263640" y="48920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92240" y="5184648"/>
            <a:ext cx="45720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9224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7178040" y="5074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recommended, not automated</a:t>
            </a:r>
            <a:endParaRPr lang="en-US" sz="1700" dirty="0"/>
          </a:p>
        </p:txBody>
      </p:sp>
      <p:sp>
        <p:nvSpPr>
          <p:cNvPr id="40" name="Text 37"/>
          <p:cNvSpPr txBox="1"/>
          <p:nvPr/>
        </p:nvSpPr>
        <p:spPr>
          <a:xfrm>
            <a:off x="7178040" y="5458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stays in control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HOW THE AI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in, explanation out.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· Product Case Study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20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metrics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337560" y="2423160"/>
            <a:ext cx="1097280" cy="132588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48640" y="32004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logs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37560" y="3703320"/>
            <a:ext cx="1097280" cy="4572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48640" y="448056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4805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context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 flipV="1">
            <a:off x="3337560" y="3749040"/>
            <a:ext cx="1097280" cy="123444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480560" y="1828800"/>
            <a:ext cx="3200400" cy="3840480"/>
          </a:xfrm>
          <a:prstGeom prst="roundRect">
            <a:avLst>
              <a:gd name="adj" fmla="val 571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0" y="2354580"/>
            <a:ext cx="320040" cy="3200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3931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reasons over the combined evidence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 flipV="1">
            <a:off x="7726680" y="2240280"/>
            <a:ext cx="1005840" cy="150876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778240" y="182880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006840" y="1828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 root cause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 flipV="1">
            <a:off x="7726680" y="3246120"/>
            <a:ext cx="1005840" cy="50292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778240" y="283464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006840" y="2834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726680" y="3749040"/>
            <a:ext cx="1005840" cy="50292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8778240" y="384048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006840" y="3840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726680" y="3749040"/>
            <a:ext cx="1005840" cy="150876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778240" y="484632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006840" y="4846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choice: the model only sees retrieved evidence, to reduce unsupported claims.</a:t>
            </a:r>
            <a:endParaRPr lang="en-US" sz="1500" dirty="0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DD7FFE62-2E6E-52E0-E001-E2E34D864353}"/>
              </a:ext>
            </a:extLst>
          </p:cNvPr>
          <p:cNvSpPr/>
          <p:nvPr/>
        </p:nvSpPr>
        <p:spPr>
          <a:xfrm>
            <a:off x="5704840" y="2843784"/>
            <a:ext cx="731520" cy="4572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5297C678-C523-3D4D-7A74-01BEFF0496EA}"/>
              </a:ext>
            </a:extLst>
          </p:cNvPr>
          <p:cNvSpPr/>
          <p:nvPr/>
        </p:nvSpPr>
        <p:spPr>
          <a:xfrm>
            <a:off x="5933440" y="2912364"/>
            <a:ext cx="320040" cy="3200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8A792177-58F3-B9CE-3D75-D99B39AF53BD}"/>
              </a:ext>
            </a:extLst>
          </p:cNvPr>
          <p:cNvSpPr/>
          <p:nvPr/>
        </p:nvSpPr>
        <p:spPr>
          <a:xfrm>
            <a:off x="6034024" y="3012948"/>
            <a:ext cx="118872" cy="118872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tools teams already use.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· Product Case Study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1920240" cy="1828800"/>
          </a:xfrm>
          <a:prstGeom prst="roundRect">
            <a:avLst>
              <a:gd name="adj" fmla="val 7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app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291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metrics and logs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87168" y="3200400"/>
            <a:ext cx="329184" cy="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34640" y="2286000"/>
            <a:ext cx="1920240" cy="1828800"/>
          </a:xfrm>
          <a:prstGeom prst="roundRect">
            <a:avLst>
              <a:gd name="adj" fmla="val 7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Loki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3291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query telemetry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73168" y="3200400"/>
            <a:ext cx="329184" cy="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120640" y="2286000"/>
            <a:ext cx="1920240" cy="1828800"/>
          </a:xfrm>
          <a:prstGeom prst="roundRect">
            <a:avLst>
              <a:gd name="adj" fmla="val 7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0352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3291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 incident, fires the alert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059168" y="3200400"/>
            <a:ext cx="329184" cy="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345168" y="3200400"/>
            <a:ext cx="329184" cy="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692640" y="2286000"/>
            <a:ext cx="1920240" cy="1828800"/>
          </a:xfrm>
          <a:prstGeom prst="roundRect">
            <a:avLst>
              <a:gd name="adj" fmla="val 7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87552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9875520" y="3291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push live incidents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466344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alert, the AI service pulls the relevant metrics and logs, combines them with incident context, and asks Gemini for a structured RCA.</a:t>
            </a:r>
            <a:endParaRPr lang="en-US" sz="170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DEC874BE-8EF6-9FB3-C1C4-74B62841F86F}"/>
              </a:ext>
            </a:extLst>
          </p:cNvPr>
          <p:cNvSpPr/>
          <p:nvPr/>
        </p:nvSpPr>
        <p:spPr>
          <a:xfrm>
            <a:off x="7437122" y="2280920"/>
            <a:ext cx="1920240" cy="1828800"/>
          </a:xfrm>
          <a:prstGeom prst="roundRect">
            <a:avLst>
              <a:gd name="adj" fmla="val 7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8486D8E3-CCDC-8C87-048D-56997281CB65}"/>
              </a:ext>
            </a:extLst>
          </p:cNvPr>
          <p:cNvSpPr txBox="1"/>
          <p:nvPr/>
        </p:nvSpPr>
        <p:spPr>
          <a:xfrm>
            <a:off x="7620002" y="2509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service</a:t>
            </a:r>
            <a:endParaRPr lang="en-US" sz="1700" dirty="0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73FB9706-7258-209F-1C9A-6DFEAFF81188}"/>
              </a:ext>
            </a:extLst>
          </p:cNvPr>
          <p:cNvSpPr txBox="1"/>
          <p:nvPr/>
        </p:nvSpPr>
        <p:spPr>
          <a:xfrm>
            <a:off x="7620002" y="3286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evidence, calls Gemini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EXAMPLE INCIDENT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evidence → RCA → action.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· Product Case Study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2606040" cy="4023360"/>
          </a:xfrm>
          <a:prstGeom prst="roundRect">
            <a:avLst>
              <a:gd name="adj" fmla="val 5263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PROBLEM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468880"/>
            <a:ext cx="2194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high latency on checkout-service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172968" y="3840480"/>
            <a:ext cx="173736" cy="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364992" y="1828800"/>
            <a:ext cx="2606040" cy="4023360"/>
          </a:xfrm>
          <a:prstGeom prst="roundRect">
            <a:avLst>
              <a:gd name="adj" fmla="val 5263"/>
            </a:avLst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93592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EVIDENCE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593592" y="2468880"/>
            <a:ext cx="2194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latency rising, DB connection pool near max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Logs: repeated “connection timeout” errors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989320" y="3840480"/>
            <a:ext cx="173736" cy="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181344" y="1828800"/>
            <a:ext cx="2606040" cy="4023360"/>
          </a:xfrm>
          <a:prstGeom prst="roundRect">
            <a:avLst>
              <a:gd name="adj" fmla="val 5263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9944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AI RCA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09944" y="2468880"/>
            <a:ext cx="2194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 cause: database connection pool exhaustion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shown alongside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805672" y="3840480"/>
            <a:ext cx="173736" cy="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997696" y="1828800"/>
            <a:ext cx="2606040" cy="4023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26296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ACTION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226296" y="2468880"/>
            <a:ext cx="2194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slow queries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pool size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recent traffic change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DECISIONS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traded something off.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· Product Case Study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1148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Gave 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on alert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 control, lower LLM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matters most at incident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 actions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Auto-remediation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a human in the loop while trust is 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+ confidence shown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simpler 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Engineers won’t act on unexplained AI 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 + logs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Traces, deploys, change 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a focused v1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6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push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Simplicity of polling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Incidents are time-sensitive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SUCCESS METRICS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faster, trusted investigation, not just fast output.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· Product Case Study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88920" y="1783080"/>
            <a:ext cx="4114800" cy="731520"/>
          </a:xfrm>
          <a:prstGeom prst="roundRect">
            <a:avLst>
              <a:gd name="adj" fmla="val 125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80360" y="1783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Star: Time to confirmed root cause(TTRC</a:t>
            </a:r>
            <a:r>
              <a:rPr lang="en-US" sz="1100" b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algn="ctr"/>
            <a:r>
              <a:rPr lang="en-IN" sz="1100" dirty="0">
                <a:solidFill>
                  <a:schemeClr val="bg1">
                    <a:lumMod val="75000"/>
                  </a:schemeClr>
                </a:solidFill>
              </a:rPr>
              <a:t>Time from incident alert firing to engineer-confirmed root cause.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4846320" y="2514600"/>
            <a:ext cx="0" cy="22860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54480" y="2743200"/>
            <a:ext cx="6583680" cy="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54480" y="2743200"/>
            <a:ext cx="0" cy="27432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01752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017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379476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93192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useful hypothesis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acknowledge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749040" y="2743200"/>
            <a:ext cx="0" cy="27432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0" y="301752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743200" y="3017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2743200" y="379476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880360" y="393192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RCAs rated correct / helpful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943600" y="2743200"/>
            <a:ext cx="0" cy="27432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937760" y="301752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937760" y="3017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4937760" y="379476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74920" y="393192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RCAs where evidence was opened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vs actual accuracy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138160" y="2743200"/>
            <a:ext cx="0" cy="274320"/>
          </a:xfrm>
          <a:prstGeom prst="line">
            <a:avLst/>
          </a:prstGeom>
          <a:noFill/>
          <a:ln w="22225">
            <a:solidFill>
              <a:srgbClr val="66708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32320" y="301752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132320" y="3017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7132320" y="379476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269480" y="393192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incidents where RCA was viewed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%incidents where RCA was accepted/ used</a:t>
            </a:r>
          </a:p>
          <a:p>
            <a:pPr>
              <a:spcAft>
                <a:spcPts val="800"/>
              </a:spcAft>
              <a:buSzPct val="100000"/>
            </a:pPr>
            <a:endParaRPr lang="en-US" sz="1300" dirty="0">
              <a:solidFill>
                <a:srgbClr val="1B2A4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endParaRPr lang="en-US" sz="1300" dirty="0">
              <a:solidFill>
                <a:srgbClr val="1B2A4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9509760" y="3017520"/>
            <a:ext cx="2103120" cy="2788920"/>
          </a:xfrm>
          <a:prstGeom prst="roundRect">
            <a:avLst>
              <a:gd name="adj" fmla="val 4348"/>
            </a:avLst>
          </a:prstGeom>
          <a:ln w="15875">
            <a:solidFill>
              <a:srgbClr val="D9480F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964692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646920" y="352044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Incorrect-RCA rate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latency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analysis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LIMITATIONS AND RISKS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where the product can fail is part of the product.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· Product Case Study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188720" y="1783080"/>
            <a:ext cx="2286000" cy="19659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660" y="1795272"/>
            <a:ext cx="2286000" cy="1965960"/>
          </a:xfrm>
          <a:prstGeom prst="rect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8720" y="3749040"/>
            <a:ext cx="2286000" cy="19659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3749040"/>
            <a:ext cx="2286000" cy="19659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8872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 rot="16200000">
            <a:off x="27432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0" y="1993392"/>
            <a:ext cx="365760" cy="36576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0" y="1828800"/>
            <a:ext cx="365760" cy="36576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17647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but confident RCA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2057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evidence; keep human review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949440" y="2423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Uncalibrated confidence score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0" y="2715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outcomes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2606040" y="2189988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606040" y="21899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400800" y="3145536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30815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in logs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33741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or self-hosted model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892040" y="4155948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892040" y="41559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400800" y="3803904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949440" y="37398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context (no traces, deploys)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0325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change correlation next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6949440" y="43982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validation yet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6949440" y="46908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5-8 interviews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2011680" y="3566160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0116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6400800" y="5120640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40080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6949440" y="50566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storms: cost and noise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6949440" y="5349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alerts</a:t>
            </a:r>
            <a:endParaRPr lang="en-US" sz="1300" dirty="0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5177F699-A3D4-C2C6-6F9F-CAFD5FE8B37E}"/>
              </a:ext>
            </a:extLst>
          </p:cNvPr>
          <p:cNvSpPr/>
          <p:nvPr/>
        </p:nvSpPr>
        <p:spPr>
          <a:xfrm>
            <a:off x="5013960" y="2909011"/>
            <a:ext cx="365760" cy="36576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FD817E22-EBBE-720D-2AEE-9053408DAF50}"/>
              </a:ext>
            </a:extLst>
          </p:cNvPr>
          <p:cNvSpPr txBox="1"/>
          <p:nvPr/>
        </p:nvSpPr>
        <p:spPr>
          <a:xfrm>
            <a:off x="502158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9F13A483-4FF3-C9EE-CA70-A86F3CF812AE}"/>
              </a:ext>
            </a:extLst>
          </p:cNvPr>
          <p:cNvSpPr/>
          <p:nvPr/>
        </p:nvSpPr>
        <p:spPr>
          <a:xfrm>
            <a:off x="3878580" y="3355848"/>
            <a:ext cx="365760" cy="36576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17796612-DC33-DCB3-BFF1-ADE609CA05B7}"/>
              </a:ext>
            </a:extLst>
          </p:cNvPr>
          <p:cNvSpPr txBox="1"/>
          <p:nvPr/>
        </p:nvSpPr>
        <p:spPr>
          <a:xfrm>
            <a:off x="387858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1" name="Shape 14">
            <a:extLst>
              <a:ext uri="{FF2B5EF4-FFF2-40B4-BE49-F238E27FC236}">
                <a16:creationId xmlns:a16="http://schemas.microsoft.com/office/drawing/2014/main" id="{2FA7A9FF-A5B4-E246-7E08-FDC9B53BD099}"/>
              </a:ext>
            </a:extLst>
          </p:cNvPr>
          <p:cNvSpPr/>
          <p:nvPr/>
        </p:nvSpPr>
        <p:spPr>
          <a:xfrm>
            <a:off x="6380482" y="2472436"/>
            <a:ext cx="365760" cy="36576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63" name="Text 15">
            <a:extLst>
              <a:ext uri="{FF2B5EF4-FFF2-40B4-BE49-F238E27FC236}">
                <a16:creationId xmlns:a16="http://schemas.microsoft.com/office/drawing/2014/main" id="{65BC52FE-0EAF-375A-EA98-DB24017A8195}"/>
              </a:ext>
            </a:extLst>
          </p:cNvPr>
          <p:cNvSpPr txBox="1"/>
          <p:nvPr/>
        </p:nvSpPr>
        <p:spPr>
          <a:xfrm>
            <a:off x="6388102" y="246207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9" name="Shape 14">
            <a:extLst>
              <a:ext uri="{FF2B5EF4-FFF2-40B4-BE49-F238E27FC236}">
                <a16:creationId xmlns:a16="http://schemas.microsoft.com/office/drawing/2014/main" id="{F18C3DE9-5A8C-D7C8-70FB-23C1BF49FF0E}"/>
              </a:ext>
            </a:extLst>
          </p:cNvPr>
          <p:cNvSpPr/>
          <p:nvPr/>
        </p:nvSpPr>
        <p:spPr>
          <a:xfrm>
            <a:off x="6388102" y="4462272"/>
            <a:ext cx="365760" cy="36576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A07CEB4F-BB6E-D040-8AAA-1B48DE4844C9}"/>
              </a:ext>
            </a:extLst>
          </p:cNvPr>
          <p:cNvSpPr txBox="1"/>
          <p:nvPr/>
        </p:nvSpPr>
        <p:spPr>
          <a:xfrm>
            <a:off x="6388102" y="4462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7" name="Shape 14">
            <a:extLst>
              <a:ext uri="{FF2B5EF4-FFF2-40B4-BE49-F238E27FC236}">
                <a16:creationId xmlns:a16="http://schemas.microsoft.com/office/drawing/2014/main" id="{7F4881CE-C48E-9454-A32C-7C0E53F95623}"/>
              </a:ext>
            </a:extLst>
          </p:cNvPr>
          <p:cNvSpPr/>
          <p:nvPr/>
        </p:nvSpPr>
        <p:spPr>
          <a:xfrm>
            <a:off x="4221480" y="5864352"/>
            <a:ext cx="365760" cy="36576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1AE52BD-14A7-1387-68FE-5A9DAFB7EC3E}"/>
              </a:ext>
            </a:extLst>
          </p:cNvPr>
          <p:cNvSpPr txBox="1"/>
          <p:nvPr/>
        </p:nvSpPr>
        <p:spPr>
          <a:xfrm>
            <a:off x="4587240" y="5912270"/>
            <a:ext cx="13996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highest-priority risk</a:t>
            </a:r>
          </a:p>
        </p:txBody>
      </p:sp>
      <p:sp>
        <p:nvSpPr>
          <p:cNvPr id="80" name="Shape 26">
            <a:extLst>
              <a:ext uri="{FF2B5EF4-FFF2-40B4-BE49-F238E27FC236}">
                <a16:creationId xmlns:a16="http://schemas.microsoft.com/office/drawing/2014/main" id="{2D169E13-D07F-F80C-4B11-FD319AF093F1}"/>
              </a:ext>
            </a:extLst>
          </p:cNvPr>
          <p:cNvSpPr/>
          <p:nvPr/>
        </p:nvSpPr>
        <p:spPr>
          <a:xfrm>
            <a:off x="4221480" y="6361139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1E2F5DC-DA3F-AE1B-D99E-C26A5DBE31D9}"/>
              </a:ext>
            </a:extLst>
          </p:cNvPr>
          <p:cNvSpPr txBox="1"/>
          <p:nvPr/>
        </p:nvSpPr>
        <p:spPr>
          <a:xfrm>
            <a:off x="4617720" y="6391619"/>
            <a:ext cx="14738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other identified risks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breadth of evidence and depth of trust.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· Product Case Study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520440" cy="548640"/>
          </a:xfrm>
          <a:prstGeom prst="roundRect">
            <a:avLst>
              <a:gd name="adj" fmla="val 16667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3520440" cy="804672"/>
          </a:xfrm>
          <a:prstGeom prst="roundRect">
            <a:avLst>
              <a:gd name="adj" fmla="val 11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buttons on RCAs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907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Measures quality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3520440" cy="804672"/>
          </a:xfrm>
          <a:prstGeom prst="roundRect">
            <a:avLst>
              <a:gd name="adj" fmla="val 11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redaction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822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Data sensitivity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297680"/>
            <a:ext cx="3520440" cy="804672"/>
          </a:xfrm>
          <a:prstGeom prst="roundRect">
            <a:avLst>
              <a:gd name="adj" fmla="val 11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interviews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736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Validates the problem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43400" y="1783080"/>
            <a:ext cx="3520440" cy="548640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343400" y="2468880"/>
            <a:ext cx="3520440" cy="804672"/>
          </a:xfrm>
          <a:prstGeom prst="roundRect">
            <a:avLst>
              <a:gd name="adj" fmla="val 11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2628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change correlation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526280" y="2907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Limited context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343400" y="3383280"/>
            <a:ext cx="3520440" cy="804672"/>
          </a:xfrm>
          <a:prstGeom prst="roundRect">
            <a:avLst>
              <a:gd name="adj" fmla="val 11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2628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traces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526280" y="3822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Limited context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43400" y="4297680"/>
            <a:ext cx="3520440" cy="804672"/>
          </a:xfrm>
          <a:prstGeom prst="roundRect">
            <a:avLst>
              <a:gd name="adj" fmla="val 11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2628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alerts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4736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Alert storms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138160" y="1783080"/>
            <a:ext cx="3520440" cy="548640"/>
          </a:xfrm>
          <a:prstGeom prst="roundRect">
            <a:avLst>
              <a:gd name="adj" fmla="val 16667"/>
            </a:avLst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6676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8138160" y="2468880"/>
            <a:ext cx="3520440" cy="804672"/>
          </a:xfrm>
          <a:prstGeom prst="roundRect">
            <a:avLst>
              <a:gd name="adj" fmla="val 11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2104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past incidents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2907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Faster diagnosis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138160" y="3383280"/>
            <a:ext cx="3520440" cy="804672"/>
          </a:xfrm>
          <a:prstGeom prst="roundRect">
            <a:avLst>
              <a:gd name="adj" fmla="val 11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32104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PagerDuty integration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321040" y="3822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Fits the workflow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138160" y="4297680"/>
            <a:ext cx="3520440" cy="804672"/>
          </a:xfrm>
          <a:prstGeom prst="roundRect">
            <a:avLst>
              <a:gd name="adj" fmla="val 11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32104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Auto-drafted postmortems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8321040" y="4736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Saves follow-up work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8138160" y="5212080"/>
            <a:ext cx="3520440" cy="804672"/>
          </a:xfrm>
          <a:prstGeom prst="roundRect">
            <a:avLst>
              <a:gd name="adj" fmla="val 11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321040" y="5303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Approval-gated remediation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321040" y="5650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Earned trust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searching. More deciding.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ArgusAI gives the on-call engineer a starting point instead of a blank page.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40080" y="2834640"/>
            <a:ext cx="3474720" cy="1920240"/>
          </a:xfrm>
          <a:prstGeom prst="roundRect">
            <a:avLst>
              <a:gd name="adj" fmla="val 7143"/>
            </a:avLst>
          </a:prstGeom>
          <a:solidFill>
            <a:srgbClr val="12315A"/>
          </a:solidFill>
          <a:ln w="12700">
            <a:solidFill>
              <a:srgbClr val="12315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9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5204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say that something broke, not why. Evidence is scattered.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133088" y="3794760"/>
            <a:ext cx="237744" cy="0"/>
          </a:xfrm>
          <a:prstGeom prst="line">
            <a:avLst/>
          </a:prstGeom>
          <a:noFill/>
          <a:ln w="22225">
            <a:solidFill>
              <a:srgbClr val="9FE3DE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389120" y="2834640"/>
            <a:ext cx="3474720" cy="1920240"/>
          </a:xfrm>
          <a:prstGeom prst="roundRect">
            <a:avLst>
              <a:gd name="adj" fmla="val 7143"/>
            </a:avLst>
          </a:prstGeom>
          <a:solidFill>
            <a:srgbClr val="12315A"/>
          </a:solidFill>
          <a:ln w="12700">
            <a:solidFill>
              <a:srgbClr val="12315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9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35204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first-responder that gathers evidence and explains the probable cause.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882128" y="3794760"/>
            <a:ext cx="237744" cy="0"/>
          </a:xfrm>
          <a:prstGeom prst="line">
            <a:avLst/>
          </a:prstGeom>
          <a:noFill/>
          <a:ln w="22225">
            <a:solidFill>
              <a:srgbClr val="9FE3D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138160" y="2834640"/>
            <a:ext cx="3474720" cy="1920240"/>
          </a:xfrm>
          <a:prstGeom prst="roundRect">
            <a:avLst>
              <a:gd name="adj" fmla="val 7143"/>
            </a:avLst>
          </a:prstGeom>
          <a:solidFill>
            <a:srgbClr val="12315A"/>
          </a:solidFill>
          <a:ln w="12700">
            <a:solidFill>
              <a:srgbClr val="1231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9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I’d measure next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5204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confirmed root cause, RCA correctness, and trust.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553212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532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discovery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852928" y="553212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852928" y="5532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thinking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65776" y="553212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65776" y="5532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decisions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278624" y="553212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278624" y="5532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491472" y="553212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491472" y="5532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credibility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1725</TotalTime>
  <Words>1797</Words>
  <Application>Microsoft Office PowerPoint</Application>
  <PresentationFormat>Widescreen</PresentationFormat>
  <Paragraphs>381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ArgusAI Product Case Study</dc:title>
  <dc:subject>PptxGenJS Presentation</dc:subject>
  <dc:creator>PptxGenJS</dc:creator>
  <cp:lastModifiedBy>Irfan Ahmed</cp:lastModifiedBy>
  <cp:revision>4</cp:revision>
  <dcterms:created xsi:type="dcterms:W3CDTF">2026-09-30T00:43:29Z</dcterms:created>
  <dcterms:modified xsi:type="dcterms:W3CDTF">2026-10-01T05:31:37Z</dcterms:modified>
</cp:coreProperties>
</file>